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5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7" r:id="rId6"/>
    <p:sldId id="300" r:id="rId7"/>
    <p:sldId id="264" r:id="rId8"/>
    <p:sldId id="291" r:id="rId9"/>
    <p:sldId id="295" r:id="rId10"/>
    <p:sldId id="296" r:id="rId11"/>
    <p:sldId id="297" r:id="rId12"/>
    <p:sldId id="298" r:id="rId13"/>
    <p:sldId id="299" r:id="rId14"/>
    <p:sldId id="268" r:id="rId15"/>
    <p:sldId id="293" r:id="rId16"/>
    <p:sldId id="294" r:id="rId17"/>
    <p:sldId id="286" r:id="rId18"/>
    <p:sldId id="262" r:id="rId19"/>
    <p:sldId id="276" r:id="rId20"/>
    <p:sldId id="29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0" autoAdjust="0"/>
    <p:restoredTop sz="93191" autoAdjust="0"/>
  </p:normalViewPr>
  <p:slideViewPr>
    <p:cSldViewPr snapToGrid="0">
      <p:cViewPr varScale="1">
        <p:scale>
          <a:sx n="66" d="100"/>
          <a:sy n="66" d="100"/>
        </p:scale>
        <p:origin x="200" y="121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6/19/25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6/19/25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2766-011F-867B-E578-902004E2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436F3-5810-CFD7-955B-D0DC1030C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23FF-BEBB-C0C7-3B5E-77A7AA90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5E47E-E246-3B4D-C94D-E8352E235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17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4639-DDE4-752E-03F7-61DA5E8D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BDA44-EAAF-99F4-2F96-136E97DF1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BEBAF-035D-1306-A825-FA2F047BA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F00F2-EC9C-7F2A-DE3B-18F31C10B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058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55892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0993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29638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5411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34310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E8916AD-F9D0-DCB0-19C7-5DC847F67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760AE7-59CD-AF7F-B131-EA88DF2EDB7F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D4AB811C-7D8A-6F28-DC99-E5EBDE5BAF9A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FAF0AB-6B09-459B-CBF5-850A8417585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67EC31-625F-FF91-9BB1-1275BD55B34B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A585F02E-C4EC-7C18-F24E-D6369393003F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C47ED7F-20F9-7831-9305-411640D90F46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E34B453-5922-1A9D-894A-C480C29BF718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D556BA8-25EF-4E7A-97E3-C9D87FB5AE6F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40D757C0-B50F-16E6-99DC-03D3750DB5A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F1C2FD93-F7F5-7605-1A23-4333F5C36AB4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5679CB6-0246-9593-4795-FB7D5EE7BFF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19744410-58AD-C294-AD04-C26A2DD8FC32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C4B7DEFD-67B4-AA04-6803-273DEB99F3A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11E2BEAD-B663-77A6-F95B-570E6B4B088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673D0D5B-C7E6-5E14-B2D8-75A952B76AE8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A52D2EDD-0BA1-6151-0E40-331ED64ECC6F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69B32D-24F1-8AE1-4682-1E047581790C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EBDC9552-D73D-8B81-4D95-B93B95847AF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66CFA4D5-F110-94C6-DBDE-ABD420619F4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29CFC0A-A70A-93EF-7E35-CAD7E3AFB8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8D349DCB-F35F-4404-7B00-A35C68D6EEA4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7EA320C-2628-936F-D29F-B681944B9F01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7182597-6A77-E655-ECA1-DFCD20B4D4B2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BD53149-C4FE-F94B-B9F6-114933FEBF17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E92F3475-E5CF-D9AA-D906-5D3A091F11B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64BB40E-C14E-40C3-F39B-DB5D625B449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10401AC-7B72-BF7D-56C4-68D8C8FA3E00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E7A0B322-CBE1-D790-F53F-8804E62565A8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BE9177-39D9-6A26-50A9-444F24BBE30E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4D236B8-D00D-9001-B180-3B8EE4655FFE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8FEBDB3-FDCE-0BC2-17A6-A59869DCB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CA95937F-28BA-A252-7FBA-E1E425A213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52601C-9C9F-D525-1C94-DC748DDDEE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6118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3515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48110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67579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63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48428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498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0035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92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46922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5444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738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5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95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87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00" r:id="rId20"/>
    <p:sldLayoutId id="2147483704" r:id="rId21"/>
    <p:sldLayoutId id="214748368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74" y="2474293"/>
            <a:ext cx="9603275" cy="2866333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sz="4400" dirty="0"/>
              <a:t>College Course </a:t>
            </a:r>
            <a:br>
              <a:rPr lang="en-US" sz="4400" dirty="0"/>
            </a:br>
            <a:r>
              <a:rPr lang="en-US" sz="4400" dirty="0"/>
              <a:t>Registration System</a:t>
            </a:r>
            <a:br>
              <a:rPr lang="en-US" sz="44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1800" dirty="0"/>
              <a:t>Madjany Lamour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8001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SRS Document: Key Aspects</a:t>
            </a:r>
          </a:p>
          <a:p>
            <a:r>
              <a:rPr lang="en-US" dirty="0"/>
              <a:t>UML Design Model</a:t>
            </a:r>
          </a:p>
          <a:p>
            <a:r>
              <a:rPr lang="en-US" dirty="0"/>
              <a:t>landing, Login &amp; Registration Pages</a:t>
            </a:r>
          </a:p>
          <a:p>
            <a:r>
              <a:rPr lang="en-US" dirty="0"/>
              <a:t>MySQL Database &amp; Class Registration</a:t>
            </a:r>
          </a:p>
          <a:p>
            <a:r>
              <a:rPr lang="en-US" dirty="0"/>
              <a:t>PHP Code Highlights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FB8E-5B74-C408-3977-FF62CA3A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628" y="2775095"/>
            <a:ext cx="6343650" cy="2668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Madjany Lamour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University of Arizona Global Campus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CST 499: Capstone for Computer Software Technology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Professor Joseph Rangitsch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June 15, 2025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B1D5C-EC12-B5F8-4C04-BFF2F129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74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SRS Document: Key Aspects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14DB51-3CBE-2FE0-63CB-C23E1B8FCF20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66466" y="2840557"/>
            <a:ext cx="711275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Purpose: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Enable students to register for courses online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Scope: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Landing page, user registration, login, enrollment modules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Functional Requirements: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CRUD, authentication, data validation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Non-Functional: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Security via password hashing, responsive design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UML and ER diagrams define system structure and data relationships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7312" y="1013671"/>
            <a:ext cx="6449786" cy="4090591"/>
          </a:xfrm>
        </p:spPr>
        <p:txBody>
          <a:bodyPr>
            <a:normAutofit/>
          </a:bodyPr>
          <a:lstStyle/>
          <a:p>
            <a:r>
              <a:rPr lang="en-US" dirty="0"/>
              <a:t>UML Design Models</a:t>
            </a:r>
            <a:br>
              <a:rPr lang="en-US" dirty="0"/>
            </a:br>
            <a:r>
              <a:rPr lang="en-US" sz="2400" dirty="0"/>
              <a:t>USECASE</a:t>
            </a:r>
            <a:br>
              <a:rPr lang="en-US" sz="2400" dirty="0"/>
            </a:br>
            <a:r>
              <a:rPr lang="en-US" sz="2400" dirty="0"/>
              <a:t>CLASS</a:t>
            </a:r>
            <a:br>
              <a:rPr lang="en-US" sz="2400" dirty="0"/>
            </a:br>
            <a:r>
              <a:rPr lang="en-US" sz="2400" dirty="0"/>
              <a:t>SEQUENCE</a:t>
            </a:r>
            <a:br>
              <a:rPr lang="en-US" sz="2400" dirty="0"/>
            </a:br>
            <a:r>
              <a:rPr lang="en-US" sz="2400" dirty="0"/>
              <a:t>ACTIVITY</a:t>
            </a:r>
            <a:br>
              <a:rPr lang="en-US" sz="2400" dirty="0"/>
            </a:br>
            <a:r>
              <a:rPr lang="en-US" sz="2400" dirty="0"/>
              <a:t>STATE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FF9D0-5C2D-9D0E-CEB8-CD2FFA22F0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4800" y="6353175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8311D-8406-E9A3-A1CF-BD2A7B0EBA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" t="7654" r="19240" b="17539"/>
          <a:stretch>
            <a:fillRect/>
          </a:stretch>
        </p:blipFill>
        <p:spPr bwMode="auto">
          <a:xfrm>
            <a:off x="4429731" y="1306208"/>
            <a:ext cx="7580299" cy="43849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E5B8AE0A-49B5-ED96-B2DC-743415097E6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5" name="Camera 4">
            <a:extLst>
              <a:ext uri="{FF2B5EF4-FFF2-40B4-BE49-F238E27FC236}">
                <a16:creationId xmlns:a16="http://schemas.microsoft.com/office/drawing/2014/main" id="{6BFE9ADD-7531-AEC5-579C-8EF06558EBC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7039A69-733F-5F3F-E0CC-EACF4D5A5E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4076118" cy="609667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2425861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2763AC-17DB-75B7-B6DF-E839EE2AC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Diagram</a:t>
            </a:r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FEFB6E-6941-A16D-907C-E271091A02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130" y="222012"/>
            <a:ext cx="6786717" cy="62478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3917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4E0D-4CAC-F8D5-01F1-3E38EE0D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5B30A56-3F61-8EE0-1FCE-D7BD4E8BA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Sequence Diagram</a:t>
            </a:r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DFA959F-1D65-E142-5A7F-D08C91253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834" y="246987"/>
            <a:ext cx="7596131" cy="60966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19025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41D1-9698-9319-0248-530C1BB5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588990-A93A-E659-C3CF-7076A3E00E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Activity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BB3A57-96AE-C062-3096-C137BC629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316" y="296324"/>
            <a:ext cx="4275694" cy="6265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552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90FC-E02F-94A2-5FE5-2DF229F6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3142FA-645E-E74B-117D-3BA23B5256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State diagram </a:t>
            </a:r>
          </a:p>
        </p:txBody>
      </p:sp>
      <p:pic>
        <p:nvPicPr>
          <p:cNvPr id="2" name="Picture 1" descr="A diagram of a flowchart&#10;&#10;AI-generated content may be incorrect.">
            <a:extLst>
              <a:ext uri="{FF2B5EF4-FFF2-40B4-BE49-F238E27FC236}">
                <a16:creationId xmlns:a16="http://schemas.microsoft.com/office/drawing/2014/main" id="{CE3AF827-739A-57B4-E817-1D865D808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751" y="853520"/>
            <a:ext cx="7191416" cy="4591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40499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5" y="896112"/>
            <a:ext cx="10132825" cy="632437"/>
          </a:xfrm>
        </p:spPr>
        <p:txBody>
          <a:bodyPr>
            <a:normAutofit/>
          </a:bodyPr>
          <a:lstStyle/>
          <a:p>
            <a:r>
              <a:rPr lang="en-US" sz="3600" dirty="0"/>
              <a:t>Landing, Login &amp; Registration Pages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5" y="1774209"/>
            <a:ext cx="9673494" cy="40670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Landing Page</a:t>
            </a:r>
            <a:r>
              <a:rPr lang="en-US" dirty="0"/>
              <a:t>: Navigation links to Login &amp; Register</a:t>
            </a:r>
          </a:p>
          <a:p>
            <a:endParaRPr lang="en-US" dirty="0"/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4CB142E-6515-A193-F065-DA6EA743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07" y="2159122"/>
            <a:ext cx="9876369" cy="380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B84A-0B55-60AC-4CC2-0C8B7C56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2804D8-5A27-5E42-96EF-B344671F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5" y="896112"/>
            <a:ext cx="10132825" cy="632437"/>
          </a:xfrm>
        </p:spPr>
        <p:txBody>
          <a:bodyPr>
            <a:normAutofit/>
          </a:bodyPr>
          <a:lstStyle/>
          <a:p>
            <a:r>
              <a:rPr lang="en-US" sz="3600" dirty="0"/>
              <a:t>Landing, Login &amp; Registration Pages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8E402-329B-8C78-1B3B-3A8D549F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07527-B33F-5E10-EBE5-11DB1D50E9F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5" y="1774209"/>
            <a:ext cx="9673494" cy="40670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Registration Page: </a:t>
            </a:r>
            <a:r>
              <a:rPr lang="en-US" dirty="0"/>
              <a:t>Form for Name, Email, Password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50FE9C-8802-D948-E63E-564F1E58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00" y="2211375"/>
            <a:ext cx="9370163" cy="414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8388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998D-3B6A-B4DE-4A09-7D0C15BD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BD8487-57C3-94FD-1B0F-AB6CC06E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5" y="896112"/>
            <a:ext cx="10132825" cy="632437"/>
          </a:xfrm>
        </p:spPr>
        <p:txBody>
          <a:bodyPr>
            <a:normAutofit/>
          </a:bodyPr>
          <a:lstStyle/>
          <a:p>
            <a:r>
              <a:rPr lang="en-US" sz="3600" dirty="0"/>
              <a:t>Landing, Login &amp; Registration Pages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77B3C-34C4-27B5-04B7-2C9825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695B7-2D67-B05B-2C5B-D329D83D56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5" y="1774209"/>
            <a:ext cx="9673494" cy="40670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Login Page: </a:t>
            </a:r>
            <a:r>
              <a:rPr lang="en-US" dirty="0"/>
              <a:t>Form for Email &amp; Password with verification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3BAE57-D710-2428-CC17-E4B29D289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866" y="2240151"/>
            <a:ext cx="8877232" cy="429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8875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2"/>
            <a:ext cx="7889768" cy="1424008"/>
          </a:xfrm>
        </p:spPr>
        <p:txBody>
          <a:bodyPr/>
          <a:lstStyle/>
          <a:p>
            <a:r>
              <a:rPr lang="en-US" dirty="0"/>
              <a:t>MySQL Database &amp; Class Registration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D694063-6519-B5BF-24C1-55960AE0DCF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521074" y="2291529"/>
            <a:ext cx="6646507" cy="3440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 </a:t>
            </a:r>
            <a:r>
              <a:rPr kumimoji="0" lang="en-PK" altLang="en-PK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college_portal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table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full_name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password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created_at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 on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Unique constraint on 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Timestamp for record creation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PDO for secure connections and queries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739207"/>
          </a:xfrm>
        </p:spPr>
        <p:txBody>
          <a:bodyPr/>
          <a:lstStyle/>
          <a:p>
            <a:r>
              <a:rPr lang="en-US" dirty="0"/>
              <a:t>PHP Code Highlights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/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504E937-3F45-1DEB-AD5B-6BE5445E0316}"/>
              </a:ext>
            </a:extLst>
          </p:cNvPr>
          <p:cNvSpPr>
            <a:spLocks noGrp="1" noChangeArrowheads="1"/>
          </p:cNvSpPr>
          <p:nvPr>
            <p:ph sz="half" idx="16"/>
          </p:nvPr>
        </p:nvSpPr>
        <p:spPr bwMode="auto">
          <a:xfrm>
            <a:off x="3932238" y="2215749"/>
            <a:ext cx="8142037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db.php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Database connection class using PDO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register.php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User input handling, password hashing, prepared statements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login.php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Credential verification with </a:t>
            </a:r>
            <a:r>
              <a:rPr kumimoji="0" lang="en-PK" altLang="en-PK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password_verify</a:t>
            </a:r>
            <a:r>
              <a:rPr kumimoji="0" lang="en-PK" altLang="en-PK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endParaRPr kumimoji="0" lang="en-PK" altLang="en-PK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Error handling and user feedback messages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Scalable structure for future feature additions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12" y="871157"/>
            <a:ext cx="10668000" cy="1325563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CC285-BD5B-85F6-9DB0-81E5A8F24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079" y="2022490"/>
            <a:ext cx="10545305" cy="3607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PK" sz="1400" dirty="0">
                <a:solidFill>
                  <a:schemeClr val="bg1"/>
                </a:solidFill>
                <a:latin typeface="Arial" panose="020B0604020202020204" pitchFamily="34" charset="0"/>
              </a:rPr>
              <a:t>Chacon, S., &amp; Straub, B. (2014). Pro Git (2nd ed.). </a:t>
            </a:r>
            <a:r>
              <a:rPr lang="en-US" altLang="en-P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Apress</a:t>
            </a:r>
            <a:r>
              <a:rPr lang="en-US" altLang="en-PK" sz="1400" dirty="0">
                <a:solidFill>
                  <a:schemeClr val="bg1"/>
                </a:solidFill>
                <a:latin typeface="Arial" panose="020B0604020202020204" pitchFamily="34" charset="0"/>
              </a:rPr>
              <a:t>. https://git-</a:t>
            </a:r>
            <a:r>
              <a:rPr lang="en-US" altLang="en-P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scm.com</a:t>
            </a:r>
            <a:r>
              <a:rPr lang="en-US" altLang="en-PK" sz="1400" dirty="0">
                <a:solidFill>
                  <a:schemeClr val="bg1"/>
                </a:solidFill>
                <a:latin typeface="Arial" panose="020B0604020202020204" pitchFamily="34" charset="0"/>
              </a:rPr>
              <a:t>/book/</a:t>
            </a:r>
            <a:r>
              <a:rPr lang="en-US" altLang="en-P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en</a:t>
            </a:r>
            <a:r>
              <a:rPr lang="en-US" altLang="en-PK" sz="1400" dirty="0">
                <a:solidFill>
                  <a:schemeClr val="bg1"/>
                </a:solidFill>
                <a:latin typeface="Arial" panose="020B0604020202020204" pitchFamily="34" charset="0"/>
              </a:rPr>
              <a:t>/v2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P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Spinellis</a:t>
            </a:r>
            <a:r>
              <a:rPr lang="en-US" altLang="en-PK" sz="1400" dirty="0">
                <a:solidFill>
                  <a:schemeClr val="bg1"/>
                </a:solidFill>
                <a:latin typeface="Arial" panose="020B0604020202020204" pitchFamily="34" charset="0"/>
              </a:rPr>
              <a:t>, D. (2005). Version control systems. IEEE Software, 22(5), 108–109. https://</a:t>
            </a:r>
            <a:r>
              <a:rPr lang="en-US" altLang="en-PK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doi.org</a:t>
            </a:r>
            <a:r>
              <a:rPr lang="en-US" altLang="en-PK" sz="1400" dirty="0">
                <a:solidFill>
                  <a:schemeClr val="bg1"/>
                </a:solidFill>
                <a:latin typeface="Arial" panose="020B0604020202020204" pitchFamily="34" charset="0"/>
              </a:rPr>
              <a:t>/10.1109/MS.2005.151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sz="1400">
                <a:solidFill>
                  <a:schemeClr val="bg1"/>
                </a:solidFill>
                <a:latin typeface="Arial" panose="020B0604020202020204" pitchFamily="34" charset="0"/>
              </a:rPr>
              <a:t>Tsui, F., Karam, O., &amp; Bernal, B. (2018). Essentials of software engineering (4th ed.). Jones &amp; Bartlett Learning.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sz="1400">
                <a:solidFill>
                  <a:schemeClr val="bg1"/>
                </a:solidFill>
                <a:latin typeface="Arial" panose="020B0604020202020204" pitchFamily="34" charset="0"/>
              </a:rPr>
              <a:t>Connolly, R., &amp; Hoar, R. (2022). Fundamentals of web development (3rd ed.). Pearson.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sz="1400">
                <a:solidFill>
                  <a:schemeClr val="bg1"/>
                </a:solidFill>
                <a:latin typeface="Arial" panose="020B0604020202020204" pitchFamily="34" charset="0"/>
              </a:rPr>
              <a:t>Mikoluk, K. (2013, September 18). XAMPP tutorial: How to use XAMPP to run your own web serverLinks to an external site.. Udemy. https://blog.udemy.com/xampp-tutorial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sz="1400">
                <a:solidFill>
                  <a:schemeClr val="bg1"/>
                </a:solidFill>
                <a:latin typeface="Arial" panose="020B0604020202020204" pitchFamily="34" charset="0"/>
              </a:rPr>
              <a:t>Oh, S. (n.d.). Bootstrap: Tutorial 7Links to an external site.. University of Toronto. https://www.cs.toronto.edu/~mashiyat/csc309/Tutorial/6/Bootstrap.pdf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sz="1400">
                <a:solidFill>
                  <a:schemeClr val="bg1"/>
                </a:solidFill>
                <a:latin typeface="Arial" panose="020B0604020202020204" pitchFamily="34" charset="0"/>
              </a:rPr>
              <a:t>Nzube, O. E. (2024, October 8). PHP tutorial – How to setup PHP and XAMPP for your project. freeCodeCamp.org. https://www.freecodecamp.org/news/how-to-get-started-with-php/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PK" altLang="en-PK" sz="1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9|1|0.7"/>
</p:tagLst>
</file>

<file path=ppt/theme/theme1.xml><?xml version="1.0" encoding="utf-8"?>
<a:theme xmlns:a="http://schemas.openxmlformats.org/drawingml/2006/main" name="Gallery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551</Words>
  <Application>Microsoft Macintosh PowerPoint</Application>
  <PresentationFormat>Widescreen</PresentationFormat>
  <Paragraphs>87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Unicode MS</vt:lpstr>
      <vt:lpstr>Arial</vt:lpstr>
      <vt:lpstr>Calibri</vt:lpstr>
      <vt:lpstr>Gill Sans MT</vt:lpstr>
      <vt:lpstr>Gallery</vt:lpstr>
      <vt:lpstr> College Course  Registration System   Madjany Lamour</vt:lpstr>
      <vt:lpstr>Agenda</vt:lpstr>
      <vt:lpstr>Madjany Lamour  University of Arizona Global Campus  CST 499: Capstone for Computer Software Technology  Professor Joseph Rangitsch  June 15, 2025    </vt:lpstr>
      <vt:lpstr>SRS Document: Key Aspects</vt:lpstr>
      <vt:lpstr>UML Design Models USECASE CLASS SEQUENCE ACTIVITY STATE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Landing, Login &amp; Registration Pages</vt:lpstr>
      <vt:lpstr>Landing, Login &amp; Registration Pages</vt:lpstr>
      <vt:lpstr>Landing, Login &amp; Registration Pages</vt:lpstr>
      <vt:lpstr>MySQL Database &amp; Class Registration</vt:lpstr>
      <vt:lpstr>PHP Code Highlights</vt:lpstr>
      <vt:lpstr>THANK YOU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Uzair Waseem</dc:creator>
  <cp:lastModifiedBy>Madjany Lamour</cp:lastModifiedBy>
  <cp:revision>17</cp:revision>
  <dcterms:created xsi:type="dcterms:W3CDTF">2025-06-19T12:46:41Z</dcterms:created>
  <dcterms:modified xsi:type="dcterms:W3CDTF">2025-06-20T03:14:36Z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